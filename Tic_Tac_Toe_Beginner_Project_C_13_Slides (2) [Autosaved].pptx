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21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8200" y="640080"/>
            <a:ext cx="3108960" cy="3108960"/>
          </a:xfrm>
          <a:prstGeom prst="ellipse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3657600"/>
            <a:ext cx="1920240" cy="1920240"/>
          </a:xfrm>
          <a:prstGeom prst="ellipse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9482328" y="1143000"/>
            <a:ext cx="0" cy="2249424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32520" y="1892807"/>
            <a:ext cx="2249424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32136" y="1143000"/>
            <a:ext cx="0" cy="2249424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32520" y="2642615"/>
            <a:ext cx="2249424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32520" y="1170432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2136" y="1170432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82328" y="1920239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670047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32136" y="2670047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00584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48CDD7"/>
                </a:solidFill>
                <a:latin typeface="Aptos"/>
              </a:defRPr>
            </a:pPr>
            <a:r>
              <a:t>BEGINNER PROJECT  •  C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00200"/>
            <a:ext cx="6675120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4000" b="1">
                <a:solidFill>
                  <a:srgbClr val="F8F9FF"/>
                </a:solidFill>
                <a:latin typeface="Aptos"/>
              </a:defRPr>
            </a:pPr>
            <a:r>
              <a:t>TIC-TAC-TOE</a:t>
            </a:r>
          </a:p>
          <a:p>
            <a:pPr algn="l">
              <a:spcAft>
                <a:spcPts val="600"/>
              </a:spcAft>
              <a:defRPr sz="4000" b="1">
                <a:solidFill>
                  <a:srgbClr val="F8F9FF"/>
                </a:solidFill>
                <a:latin typeface="Aptos"/>
              </a:defRPr>
            </a:pPr>
            <a:r>
              <a:t>GAME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603504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B8C1D8"/>
                </a:solidFill>
                <a:latin typeface="Aptos"/>
              </a:defRPr>
            </a:pPr>
            <a:r>
              <a:t>A simple two-player console game built with 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17720"/>
            <a:ext cx="2240280" cy="530352"/>
          </a:xfrm>
          <a:prstGeom prst="round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745736"/>
            <a:ext cx="2057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F8F9FF"/>
                </a:solidFill>
                <a:latin typeface="Aptos"/>
              </a:defRPr>
            </a:pPr>
            <a:r>
              <a:t>13-SLIDE PROJECT 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4572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Presented by: __________________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73952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B8C1D8"/>
                </a:solidFill>
                <a:latin typeface="Aptos"/>
              </a:defRPr>
            </a:pPr>
            <a:r>
              <a:t>01  / 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02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What is Tic-Tac-Toe?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A small game that is perfect for learning the basics of programming.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429000" cy="214884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73152" cy="2148840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715BE6"/>
                </a:solidFill>
                <a:latin typeface="Aptos"/>
              </a:defRPr>
            </a:pPr>
            <a:r>
              <a:t>THE 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301752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Two players take turns placing X and O on a 3 × 3 grid.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14884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73152" cy="2148840"/>
          </a:xfrm>
          <a:prstGeom prst="rect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176272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48CDD7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01752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Be the first player to make three matching marks in a row, column, or diagonal.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429000" cy="214884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73152" cy="2148840"/>
          </a:xfrm>
          <a:prstGeom prst="rect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2176272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6F91"/>
                </a:solidFill>
                <a:latin typeface="Aptos"/>
              </a:defRPr>
            </a:pPr>
            <a:r>
              <a:t>THE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06040"/>
            <a:ext cx="301752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Use C concepts such as arrays, loops, conditions, functions, and input/output.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83480" y="4572000"/>
            <a:ext cx="0" cy="123444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4983480"/>
            <a:ext cx="1234440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4572000"/>
            <a:ext cx="0" cy="123444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5394960"/>
            <a:ext cx="1234440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0" y="4599432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599432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5010912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22392"/>
            <a:ext cx="41148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8F9FF"/>
                </a:solidFill>
                <a:latin typeface="Aptos"/>
              </a:defRPr>
            </a:pPr>
            <a:r>
              <a:t>3 rows  •  3 columns  •  9 cells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LEARNING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03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By the end, you should understand how a small interactive C program works.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167128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2057400"/>
            <a:ext cx="6236207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8F9FF"/>
                </a:solidFill>
                <a:latin typeface="Aptos"/>
              </a:defRPr>
            </a:pPr>
            <a:r>
              <a:t>Represent a board using a two-dimensional array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80360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770632"/>
            <a:ext cx="6236207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8F9FF"/>
                </a:solidFill>
                <a:latin typeface="Aptos"/>
              </a:defRPr>
            </a:pPr>
            <a:r>
              <a:t>Accept and validate player input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593592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3483864"/>
            <a:ext cx="6236207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8F9FF"/>
                </a:solidFill>
                <a:latin typeface="Aptos"/>
              </a:defRPr>
            </a:pPr>
            <a:r>
              <a:t>Use loops to repeat turns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306824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4197096"/>
            <a:ext cx="6236207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8F9FF"/>
                </a:solidFill>
                <a:latin typeface="Aptos"/>
              </a:defRPr>
            </a:pPr>
            <a:r>
              <a:t>Use conditions to detect wins and draws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020056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" y="4910328"/>
            <a:ext cx="6236207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F8F9FF"/>
                </a:solidFill>
                <a:latin typeface="Aptos"/>
              </a:defRPr>
            </a:pPr>
            <a:r>
              <a:t>Organize code into clear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920240"/>
            <a:ext cx="3383280" cy="356616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2240280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48CDD7"/>
                </a:solidFill>
                <a:latin typeface="Aptos"/>
              </a:defRPr>
            </a:pPr>
            <a:r>
              <a:t>C CONCEPTS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743200"/>
            <a:ext cx="2514600" cy="347472"/>
          </a:xfrm>
          <a:prstGeom prst="roundRect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2816352"/>
            <a:ext cx="2286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715BE6"/>
                </a:solidFill>
                <a:latin typeface="Aptos"/>
              </a:defRPr>
            </a:pPr>
            <a:r>
              <a:t>Arrays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218688"/>
            <a:ext cx="2514600" cy="347472"/>
          </a:xfrm>
          <a:prstGeom prst="roundRect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291840"/>
            <a:ext cx="2286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48CDD7"/>
                </a:solidFill>
                <a:latin typeface="Aptos"/>
              </a:defRPr>
            </a:pPr>
            <a:r>
              <a:t>while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694176"/>
            <a:ext cx="2514600" cy="347472"/>
          </a:xfrm>
          <a:prstGeom prst="roundRect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3767328"/>
            <a:ext cx="2286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6F91"/>
                </a:solidFill>
                <a:latin typeface="Aptos"/>
              </a:defRPr>
            </a:pPr>
            <a:r>
              <a:t>if / else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4169664"/>
            <a:ext cx="2514600" cy="347472"/>
          </a:xfrm>
          <a:prstGeom prst="roundRect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02752" y="4242816"/>
            <a:ext cx="2286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FCD5C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4645152"/>
            <a:ext cx="2514600" cy="347472"/>
          </a:xfrm>
          <a:prstGeom prst="roundRect">
            <a:avLst/>
          </a:prstGeom>
          <a:solidFill>
            <a:srgbClr val="192544"/>
          </a:solidFill>
          <a:ln>
            <a:solidFill>
              <a:srgbClr val="1925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02752" y="4718304"/>
            <a:ext cx="2286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74DDA8"/>
                </a:solidFill>
                <a:latin typeface="Aptos"/>
              </a:defRPr>
            </a:pPr>
            <a:r>
              <a:t>printf / scanf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HOW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04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Rules of the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Simple rules make the program logic easy to follow.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5212080" cy="13258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21991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715B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6712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8F9FF"/>
                </a:solidFill>
                <a:latin typeface="Aptos"/>
              </a:defRPr>
            </a:pPr>
            <a:r>
              <a:t>Two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87752"/>
            <a:ext cx="3886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Player 1 uses X; Player 2 uses 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65960"/>
            <a:ext cx="5212080" cy="13258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221991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48CD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16712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8F9FF"/>
                </a:solidFill>
                <a:latin typeface="Aptos"/>
              </a:defRPr>
            </a:pPr>
            <a:r>
              <a:t>Take 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87752"/>
            <a:ext cx="3886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Choose an empty cell on the 3 × 3 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212080" cy="13258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6F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85876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8F9FF"/>
                </a:solidFill>
                <a:latin typeface="Aptos"/>
              </a:defRPr>
            </a:pPr>
            <a:r>
              <a:t>Win the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79392"/>
            <a:ext cx="3886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Get 3 of your marks in one row, column, or diagonal.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5212080" cy="13258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913632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400" b="1">
                <a:solidFill>
                  <a:srgbClr val="FFCD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58768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8F9FF"/>
                </a:solidFill>
                <a:latin typeface="Aptos"/>
              </a:defRPr>
            </a:pPr>
            <a:r>
              <a:t>Draw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279392"/>
            <a:ext cx="3886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If all 9 cells are filled and nobody wins, it is a draw.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05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Representing the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A 3 × 3 character array can store every cell.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057400"/>
            <a:ext cx="0" cy="274320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5840" y="2971800"/>
            <a:ext cx="2743199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34640" y="2057400"/>
            <a:ext cx="0" cy="274320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" y="3886200"/>
            <a:ext cx="2743199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2084831"/>
            <a:ext cx="9144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84831"/>
            <a:ext cx="9144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99232"/>
            <a:ext cx="9144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13632"/>
            <a:ext cx="91440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B8C1D8"/>
                </a:solidFill>
                <a:latin typeface="Aptos"/>
              </a:defRPr>
            </a:pPr>
            <a:r>
              <a:t>Example 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965960"/>
            <a:ext cx="6492240" cy="333756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60" y="2331720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48CDD7"/>
                </a:solidFill>
                <a:latin typeface="Consolas"/>
              </a:defRPr>
            </a:pPr>
            <a:r>
              <a:t>char board[3][3];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71800"/>
            <a:ext cx="5577840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• Each cell stores X, O, or a blank space.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• Rows and columns use indexes 0, 1, and 2.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• A nested loop can print the full board.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F8F9FF"/>
                </a:solidFill>
                <a:latin typeface="Aptos"/>
              </a:defRPr>
            </a:pPr>
            <a:r>
              <a:t>• A move is accepted only if the cell is empty.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PROGRAM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06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The game repeats turns until a player wins or the board is full.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86384" y="2194560"/>
            <a:ext cx="457200" cy="457200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295144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18541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Initialize 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39" y="2395728"/>
            <a:ext cx="292608" cy="0"/>
          </a:xfrm>
          <a:prstGeom prst="line">
            <a:avLst/>
          </a:prstGeom>
          <a:ln w="25400">
            <a:solidFill>
              <a:srgbClr val="5B6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39" y="201168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66744" y="2194560"/>
            <a:ext cx="457200" cy="457200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2295144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18541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Display 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2395728"/>
            <a:ext cx="292608" cy="0"/>
          </a:xfrm>
          <a:prstGeom prst="line">
            <a:avLst/>
          </a:prstGeom>
          <a:ln w="25400">
            <a:solidFill>
              <a:srgbClr val="5B6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201168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47104" y="2194560"/>
            <a:ext cx="457200" cy="457200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47104" y="2295144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18541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Read current player's move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201168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427463" y="2194560"/>
            <a:ext cx="457200" cy="457200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27463" y="2295144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94391" y="218541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Check move is valid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2900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86384" y="3611880"/>
            <a:ext cx="457200" cy="457200"/>
          </a:xfrm>
          <a:prstGeom prst="ellipse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712463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360273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Place X or 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63239" y="3813048"/>
            <a:ext cx="292608" cy="0"/>
          </a:xfrm>
          <a:prstGeom prst="line">
            <a:avLst/>
          </a:prstGeom>
          <a:ln w="25400">
            <a:solidFill>
              <a:srgbClr val="5B6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20439" y="342900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666744" y="3611880"/>
            <a:ext cx="457200" cy="457200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66744" y="3712463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3672" y="360273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Check win / draw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0" y="3813048"/>
            <a:ext cx="292608" cy="0"/>
          </a:xfrm>
          <a:prstGeom prst="line">
            <a:avLst/>
          </a:prstGeom>
          <a:ln w="25400">
            <a:solidFill>
              <a:srgbClr val="5B6B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00800" y="3429000"/>
            <a:ext cx="2423160" cy="8686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47104" y="3611880"/>
            <a:ext cx="457200" cy="457200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47104" y="3712463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121B3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3602736"/>
            <a:ext cx="1600200" cy="4572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8F9FF"/>
                </a:solidFill>
                <a:latin typeface="Aptos"/>
              </a:defRPr>
            </a:pPr>
            <a:r>
              <a:t>Switch player and repeat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440680"/>
            <a:ext cx="9601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48CDD7"/>
                </a:solidFill>
                <a:latin typeface="Aptos"/>
              </a:defRPr>
            </a:pPr>
            <a:r>
              <a:t>Repeat steps 2–7 while the game is not over.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PROGRAM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07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Game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High-level flow of a single game.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" y="1965960"/>
            <a:ext cx="1554480" cy="561348"/>
          </a:xfrm>
          <a:prstGeom prst="round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4491" y="2093460"/>
            <a:ext cx="1463039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8F9FF"/>
                </a:solidFill>
                <a:latin typeface="Aptos"/>
              </a:defRPr>
            </a:pPr>
            <a:r>
              <a:rPr dirty="0"/>
              <a:t>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0450" y="1943100"/>
            <a:ext cx="1920240" cy="50292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3266" y="2064778"/>
            <a:ext cx="1828799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8F9FF"/>
                </a:solidFill>
                <a:latin typeface="Aptos"/>
              </a:defRPr>
            </a:pPr>
            <a:r>
              <a:rPr dirty="0"/>
              <a:t>Initialize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26964" y="1989815"/>
            <a:ext cx="2240280" cy="50292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39" y="2072198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8F9FF"/>
                </a:solidFill>
                <a:latin typeface="Aptos"/>
              </a:defRPr>
            </a:pPr>
            <a:r>
              <a:rPr dirty="0"/>
              <a:t>Display board +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5300" y="1915668"/>
            <a:ext cx="1508760" cy="502920"/>
          </a:xfrm>
          <a:prstGeom prst="roundRect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6741" y="2055806"/>
            <a:ext cx="1417319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21B34"/>
                </a:solidFill>
                <a:latin typeface="Aptos"/>
              </a:defRPr>
            </a:pPr>
            <a:r>
              <a:rPr dirty="0"/>
              <a:t>Valid move?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794760"/>
            <a:ext cx="1920240" cy="50292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3931920"/>
            <a:ext cx="1828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8F9FF"/>
                </a:solidFill>
                <a:latin typeface="Aptos"/>
              </a:defRPr>
            </a:pPr>
            <a:r>
              <a:t>Check win / draw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3794760"/>
            <a:ext cx="1645920" cy="502920"/>
          </a:xfrm>
          <a:prstGeom prst="roundRect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3931920"/>
            <a:ext cx="1554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8F9FF"/>
                </a:solidFill>
                <a:latin typeface="Aptos"/>
              </a:defRPr>
            </a:pPr>
            <a:r>
              <a:t>Game over?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794760"/>
            <a:ext cx="1371600" cy="502920"/>
          </a:xfrm>
          <a:prstGeom prst="roundRect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00299" y="3951240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21B34"/>
                </a:solidFill>
                <a:latin typeface="Aptos"/>
              </a:defRPr>
            </a:pPr>
            <a:r>
              <a:t>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2194044"/>
            <a:ext cx="411480" cy="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46319" y="2204269"/>
            <a:ext cx="502920" cy="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67244" y="2177353"/>
            <a:ext cx="502921" cy="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759952" y="2331720"/>
            <a:ext cx="201168" cy="146304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812280" y="4041648"/>
            <a:ext cx="1188720" cy="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749039" y="4041648"/>
            <a:ext cx="1417321" cy="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989320" y="2606040"/>
            <a:ext cx="0" cy="1188720"/>
          </a:xfrm>
          <a:prstGeom prst="line">
            <a:avLst/>
          </a:prstGeom>
          <a:ln w="2286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03820" y="2889406"/>
            <a:ext cx="1920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FFCD5C"/>
                </a:solidFill>
                <a:latin typeface="Aptos"/>
              </a:defRPr>
            </a:pPr>
            <a:r>
              <a:t>No → ask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48CDD7"/>
                </a:solidFill>
                <a:latin typeface="Aptos"/>
              </a:defRPr>
            </a:pPr>
            <a:r>
              <a:t>No → next 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767328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74DDA8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08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Useful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Breaking the program into functions keeps it readable and easier to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469880" cy="621792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039112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715BE6"/>
                </a:solidFill>
                <a:latin typeface="Consolas"/>
              </a:defRPr>
            </a:pPr>
            <a:r>
              <a:t>initializeBoard()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29967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9FF"/>
                </a:solidFill>
                <a:latin typeface="Aptos"/>
              </a:defRPr>
            </a:pPr>
            <a:r>
              <a:t>Fill every cell with a blank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79191"/>
            <a:ext cx="10469880" cy="621792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843784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48CDD7"/>
                </a:solidFill>
                <a:latin typeface="Consolas"/>
              </a:defRPr>
            </a:pPr>
            <a:r>
              <a:t>displayBoard()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34639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9FF"/>
                </a:solidFill>
                <a:latin typeface="Aptos"/>
              </a:defRPr>
            </a:pPr>
            <a:r>
              <a:t>Print the grid and its current marks.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83863"/>
            <a:ext cx="10469880" cy="621792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648456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6F91"/>
                </a:solidFill>
                <a:latin typeface="Consolas"/>
              </a:defRPr>
            </a:pPr>
            <a:r>
              <a:t>checkWin()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639311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9FF"/>
                </a:solidFill>
                <a:latin typeface="Aptos"/>
              </a:defRPr>
            </a:pPr>
            <a:r>
              <a:t>Return true if a row, column, or diagonal matches.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88536"/>
            <a:ext cx="10469880" cy="621792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53127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CD5C"/>
                </a:solidFill>
                <a:latin typeface="Consolas"/>
              </a:defRPr>
            </a:pPr>
            <a:r>
              <a:t>isBoardFull()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443983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9FF"/>
                </a:solidFill>
                <a:latin typeface="Aptos"/>
              </a:defRPr>
            </a:pPr>
            <a:r>
              <a:t>Return true when no empty cells remain.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93208"/>
            <a:ext cx="10469880" cy="621792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74DDA8"/>
                </a:solidFill>
                <a:latin typeface="Consolas"/>
              </a:defRPr>
            </a:pPr>
            <a:r>
              <a:t>main()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48656"/>
            <a:ext cx="6675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8F9FF"/>
                </a:solidFill>
                <a:latin typeface="Aptos"/>
              </a:defRPr>
            </a:pPr>
            <a:r>
              <a:t>Control turns, input, validation, and game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C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09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Code walkthrough —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Start with the board, printing function, and win-checking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406640" cy="4251960"/>
          </a:xfrm>
          <a:prstGeom prst="roundRect">
            <a:avLst/>
          </a:prstGeom>
          <a:solidFill>
            <a:srgbClr val="0C1327"/>
          </a:solidFill>
          <a:ln>
            <a:solidFill>
              <a:srgbClr val="0C1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93392"/>
            <a:ext cx="82296" cy="82296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993392"/>
            <a:ext cx="82296" cy="82296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1993392"/>
            <a:ext cx="82296" cy="82296"/>
          </a:xfrm>
          <a:prstGeom prst="ellipse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7040879" cy="3794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#include &lt;stdio.h&gt;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char b[3][3];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void initBoard(void) {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for (int r = 0; r &lt; 3; r++)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for (int c = 0; c &lt; 3; c++)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    b[r][c] = ' ';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void showBoard(void) {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printf("\n %c | %c | %c\n", b[0][0], b[0][1], b[0][2]);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printf("---+---+---\n");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printf(" %c | %c | %c\n", b[1][0], b[1][1], b[1][2]);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printf("---+---+---\n");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printf(" %c | %c | %c\n", b[2][0], b[2][1], b[2][2]);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65960"/>
            <a:ext cx="2926080" cy="38404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28600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48CDD7"/>
                </a:solidFill>
                <a:latin typeface="Aptos"/>
              </a:defRPr>
            </a:pPr>
            <a:r>
              <a:t>WHAT TO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9864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2788920"/>
            <a:ext cx="2075687" cy="644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stdio.h provides input/output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56158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3451860"/>
            <a:ext cx="2075687" cy="644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b is a global 3 × 3 array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22452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88552" y="4114800"/>
            <a:ext cx="2075687" cy="644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Nested loops initialize cells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88746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88552" y="4777740"/>
            <a:ext cx="2075687" cy="6446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showBoard() prints each 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C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10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Code walkthrough — win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A winning line contains the same non-blank character.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406640" cy="4251960"/>
          </a:xfrm>
          <a:prstGeom prst="roundRect">
            <a:avLst/>
          </a:prstGeom>
          <a:solidFill>
            <a:srgbClr val="0C1327"/>
          </a:solidFill>
          <a:ln>
            <a:solidFill>
              <a:srgbClr val="0C1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93392"/>
            <a:ext cx="82296" cy="82296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993392"/>
            <a:ext cx="82296" cy="82296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1993392"/>
            <a:ext cx="82296" cy="82296"/>
          </a:xfrm>
          <a:prstGeom prst="ellipse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7040879" cy="3794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int checkWin(void) {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for (int i = 0; i &lt; 3; i++) {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if (b[i][0] != ' ' &amp;&amp;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    b[i][0] == b[i][1] &amp;&amp;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    b[i][1] == b[i][2]) return 1;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if (b[0][i] != ' ' &amp;&amp;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    b[0][i] == b[1][i] &amp;&amp;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    b[1][i] == b[2][i]) return 1;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if (b[0][0] != ' ' &amp;&amp; b[0][0] == b[1][1]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&amp;&amp; b[1][1] == b[2][2]) return 1;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if (b[0][2] != ' ' &amp;&amp; b[0][2] == b[1][1]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    &amp;&amp; b[1][1] == b[2][0]) return 1;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    return 0;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CEE6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65960"/>
            <a:ext cx="2926080" cy="38404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28600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48CDD7"/>
                </a:solidFill>
                <a:latin typeface="Aptos"/>
              </a:defRPr>
            </a:pPr>
            <a:r>
              <a:t>WIN CONDITIONS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98648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2788920"/>
            <a:ext cx="207568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3 horizontal rows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47288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3337560"/>
            <a:ext cx="207568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3 vertical columns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3995928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88552" y="3886200"/>
            <a:ext cx="207568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2 diagonals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544568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88552" y="4434840"/>
            <a:ext cx="207568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Ignore blank cells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5093207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8552" y="4983479"/>
            <a:ext cx="2075687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Return 1 for win; else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C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11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Main game loop — core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This shortened example shows how turns, moves, and results fit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406640" cy="4251960"/>
          </a:xfrm>
          <a:prstGeom prst="roundRect">
            <a:avLst/>
          </a:prstGeom>
          <a:solidFill>
            <a:srgbClr val="0C1327"/>
          </a:solidFill>
          <a:ln>
            <a:solidFill>
              <a:srgbClr val="0C1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93392"/>
            <a:ext cx="82296" cy="82296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993392"/>
            <a:ext cx="82296" cy="82296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1993392"/>
            <a:ext cx="82296" cy="82296"/>
          </a:xfrm>
          <a:prstGeom prst="ellipse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12848"/>
            <a:ext cx="7040879" cy="3794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int main(void) {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int row, col, turn = 0;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char player = 'X';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initBoard();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while (turn &lt; 9) {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showBoard();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printf("Player %c — enter row and column (1-3): ", player);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scanf("%d %d", &amp;row, &amp;col);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row--; col--;  // convert to indexes 0-2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if (row &lt; 0 || row &gt; 2 || col &lt; 0 || col &gt; 2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|| b[row][col] != ' ') {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printf("Invalid move. Try again.\n");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continue;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b[row][col] = player;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if (checkWin()) {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showBoard();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printf("Player %c wins!\n", player);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    return 0;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player = (player == 'X') ? 'O' : 'X';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    turn++;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showBoard();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printf("It's a draw!\n");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    return 0;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CEE6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65960"/>
            <a:ext cx="2926080" cy="384048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2286000"/>
            <a:ext cx="2377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48CDD7"/>
                </a:solidFill>
                <a:latin typeface="Aptos"/>
              </a:defRPr>
            </a:pPr>
            <a:r>
              <a:t>IMPORTANT NOTES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89864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2788920"/>
            <a:ext cx="2075687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Rows / columns are entered 1–3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58444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3474720"/>
            <a:ext cx="2075687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Invalid moves are rejected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427024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88552" y="4160520"/>
            <a:ext cx="2075687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?: switches X and O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956048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88552" y="4846320"/>
            <a:ext cx="2075687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9FF"/>
                </a:solidFill>
                <a:latin typeface="Aptos"/>
              </a:defRPr>
            </a:pPr>
            <a:r>
              <a:t>turn &lt; 9 limits the moves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12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Sample console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Example: Player X completes the top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6675120" cy="4069080"/>
          </a:xfrm>
          <a:prstGeom prst="roundRect">
            <a:avLst/>
          </a:prstGeom>
          <a:solidFill>
            <a:srgbClr val="0A1020"/>
          </a:solidFill>
          <a:ln>
            <a:solidFill>
              <a:srgbClr val="0A1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2103120"/>
            <a:ext cx="109728" cy="109728"/>
          </a:xfrm>
          <a:prstGeom prst="ellipse">
            <a:avLst/>
          </a:prstGeom>
          <a:solidFill>
            <a:srgbClr val="FF6F91"/>
          </a:solidFill>
          <a:ln>
            <a:solidFill>
              <a:srgbClr val="FF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61872" y="2103120"/>
            <a:ext cx="109728" cy="109728"/>
          </a:xfrm>
          <a:prstGeom prst="ellipse">
            <a:avLst/>
          </a:prstGeom>
          <a:solidFill>
            <a:srgbClr val="FFCD5C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72184" y="2103120"/>
            <a:ext cx="109728" cy="109728"/>
          </a:xfrm>
          <a:prstGeom prst="ellipse">
            <a:avLst/>
          </a:prstGeom>
          <a:solidFill>
            <a:srgbClr val="74DDA8"/>
          </a:solidFill>
          <a:ln>
            <a:solidFill>
              <a:srgbClr val="74D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6035040" cy="3063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X — enter row and column (1-3): 1 1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O — enter row and column (1-3): 2 1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X — enter row and column (1-3): 1 2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O — enter row and column (1-3): 2 2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X — enter row and column (1-3): 1 3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 X | X | X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---+---+---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 O | O |  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---+---+---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   |   |  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74DDA8"/>
                </a:solidFill>
                <a:latin typeface="Consolas"/>
              </a:defRPr>
            </a:pPr>
            <a:r>
              <a:t>Player X wins!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62288" y="2377440"/>
            <a:ext cx="0" cy="2249424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12480" y="3127248"/>
            <a:ext cx="2249424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12096" y="2377440"/>
            <a:ext cx="0" cy="2249424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12480" y="3877056"/>
            <a:ext cx="2249424" cy="0"/>
          </a:xfrm>
          <a:prstGeom prst="line">
            <a:avLst/>
          </a:prstGeom>
          <a:ln w="31750">
            <a:solidFill>
              <a:srgbClr val="48CD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0" y="2404872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404872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6" y="2404872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6F91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79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154679"/>
            <a:ext cx="749808" cy="70408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CD5C"/>
                </a:solidFill>
                <a:latin typeface="Aptos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892040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FF6F91"/>
                </a:solidFill>
                <a:latin typeface="Aptos"/>
              </a:defRPr>
            </a:pPr>
            <a:r>
              <a:t>Winning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5349240"/>
            <a:ext cx="3474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B8C1D8"/>
                </a:solidFill>
                <a:latin typeface="Aptos"/>
              </a:defRPr>
            </a:pPr>
            <a:r>
              <a:t>The game ends as soon as a winning line is found.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48CDD7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20040"/>
            <a:ext cx="1097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000" b="1">
                <a:solidFill>
                  <a:srgbClr val="B8C1D8"/>
                </a:solidFill>
                <a:latin typeface="Aptos"/>
              </a:defRPr>
            </a:pPr>
            <a:r>
              <a:t>13  / 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713232"/>
            <a:ext cx="502920" cy="41148"/>
          </a:xfrm>
          <a:prstGeom prst="rect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9728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8F9FF"/>
                </a:solidFill>
                <a:latin typeface="Aptos"/>
              </a:defRPr>
            </a:pPr>
            <a:r>
              <a:t>Conclusion &amp;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18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B8C1D8"/>
                </a:solidFill>
                <a:latin typeface="Aptos"/>
              </a:defRPr>
            </a:pPr>
            <a:r>
              <a:t>A small project with big learning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983480" cy="333756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48CDD7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852928"/>
            <a:ext cx="109728" cy="109728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274320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Arrays store the game board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367278"/>
            <a:ext cx="109728" cy="109728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3312" y="325755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Loops control repeated turns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881628"/>
            <a:ext cx="109728" cy="109728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3312" y="377190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Conditions identify wins and draws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395978"/>
            <a:ext cx="109728" cy="109728"/>
          </a:xfrm>
          <a:prstGeom prst="ellipse">
            <a:avLst/>
          </a:prstGeom>
          <a:solidFill>
            <a:srgbClr val="715BE6"/>
          </a:solidFill>
          <a:ln>
            <a:solidFill>
              <a:srgbClr val="715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428625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Functions organize the program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920240"/>
            <a:ext cx="4983480" cy="3337560"/>
          </a:xfrm>
          <a:prstGeom prst="roundRect">
            <a:avLst/>
          </a:prstGeom>
          <a:solidFill>
            <a:srgbClr val="223052"/>
          </a:solidFill>
          <a:ln>
            <a:solidFill>
              <a:srgbClr val="22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240280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FF6F91"/>
                </a:solidFill>
                <a:latin typeface="Aptos"/>
              </a:defRPr>
            </a:pPr>
            <a:r>
              <a:t>IDEAS TO IMPROVE IT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852928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48272" y="274320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Add a single-player mode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367278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48272" y="325755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Let players replay without restarting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881628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377190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Improve input-error handling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395978"/>
            <a:ext cx="109728" cy="109728"/>
          </a:xfrm>
          <a:prstGeom prst="ellipse">
            <a:avLst/>
          </a:prstGeom>
          <a:solidFill>
            <a:srgbClr val="48CDD7"/>
          </a:solidFill>
          <a:ln>
            <a:solidFill>
              <a:srgbClr val="48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48272" y="4286250"/>
            <a:ext cx="3950207" cy="4960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F8F9FF"/>
                </a:solidFill>
                <a:latin typeface="Aptos"/>
              </a:defRPr>
            </a:pPr>
            <a:r>
              <a:t>Keep scores across rounds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4114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800" b="1">
                <a:solidFill>
                  <a:srgbClr val="F8F9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76072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1800" b="1">
                <a:solidFill>
                  <a:srgbClr val="48CDD7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5486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800" b="1">
                <a:solidFill>
                  <a:srgbClr val="B8C1D8"/>
                </a:solidFill>
                <a:latin typeface="Aptos"/>
              </a:defRPr>
            </a:pPr>
            <a:r>
              <a:t>TIC-TAC-TOE  •  BEGINNER C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1470</Words>
  <Application>Microsoft Office PowerPoint</Application>
  <PresentationFormat>Widescreen</PresentationFormat>
  <Paragraphs>265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sanajana</dc:creator>
  <cp:keywords/>
  <dc:description>generated using python-pptx</dc:description>
  <cp:lastModifiedBy>sanajana</cp:lastModifiedBy>
  <cp:revision>3</cp:revision>
  <dcterms:created xsi:type="dcterms:W3CDTF">2013-01-27T09:14:16Z</dcterms:created>
  <dcterms:modified xsi:type="dcterms:W3CDTF">2026-10-11T10:56:15Z</dcterms:modified>
  <cp:category/>
</cp:coreProperties>
</file>